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1"/>
    <p:restoredTop sz="94694"/>
  </p:normalViewPr>
  <p:slideViewPr>
    <p:cSldViewPr snapToGrid="0" snapToObjects="1">
      <p:cViewPr>
        <p:scale>
          <a:sx n="94" d="100"/>
          <a:sy n="94" d="100"/>
        </p:scale>
        <p:origin x="1216" y="5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93C5FD"/>
                </a:solidFill>
                <a:latin typeface="Calibri"/>
              </a:rPr>
              <a:t>CSCI461 — Introduction to Big Data ·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Network Attack Detection on CIC-IDS2017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93C5FD"/>
                </a:solidFill>
                <a:latin typeface="Calibri"/>
              </a:rPr>
              <a:t>A Distributed Big-Data Pipeline using Apache Hadoop and Spark MLlib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37008"/>
            <a:ext cx="1097280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Team Members</a:t>
            </a:r>
            <a:endParaRPr lang="en-US" sz="1600" b="1" dirty="0">
              <a:solidFill>
                <a:srgbClr val="FFFFFF"/>
              </a:solidFill>
              <a:latin typeface="Calibri"/>
            </a:endParaRPr>
          </a:p>
          <a:p>
            <a:r>
              <a:rPr lang="en-US" sz="1600" b="1" dirty="0">
                <a:solidFill>
                  <a:srgbClr val="FFFFFF"/>
                </a:solidFill>
              </a:rPr>
              <a:t>Zakaria Ahmed Zakaria      231001137</a:t>
            </a:r>
          </a:p>
          <a:p>
            <a:r>
              <a:rPr lang="en-US" sz="1600" b="1" dirty="0">
                <a:solidFill>
                  <a:srgbClr val="FFFFFF"/>
                </a:solidFill>
              </a:rPr>
              <a:t>Salma Mohamed Ghonim 231000793</a:t>
            </a:r>
          </a:p>
          <a:p>
            <a:r>
              <a:rPr lang="en-US" sz="1600" b="1" dirty="0">
                <a:solidFill>
                  <a:srgbClr val="FFFFFF"/>
                </a:solidFill>
              </a:rPr>
              <a:t>Yasmin Ahmed Radwan     231000650</a:t>
            </a:r>
          </a:p>
          <a:p>
            <a:r>
              <a:rPr lang="en-US" sz="1600" b="1" dirty="0">
                <a:solidFill>
                  <a:srgbClr val="FFFFFF"/>
                </a:solidFill>
              </a:rPr>
              <a:t>Wesal Magdy Abdelrazek  231001686</a:t>
            </a:r>
          </a:p>
          <a:p>
            <a:r>
              <a:rPr lang="en-US" sz="1600" b="1" dirty="0">
                <a:solidFill>
                  <a:srgbClr val="FFFFFF"/>
                </a:solidFill>
              </a:rPr>
              <a:t>Hanin Hazem Elsherif         231000848</a:t>
            </a:r>
            <a:endParaRPr sz="1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3C5FD"/>
                </a:solidFill>
                <a:latin typeface="Calibri"/>
              </a:rPr>
              <a:t>Hadoop · HDFS · Apache Spark · Spark MLlib · Docker · 785,583 flows · 3 classifiers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2/10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Project Idea, Objectives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  <a:latin typeface="Calibri"/>
              </a:rPr>
              <a:t>Why distributed intrusion detection — and exactly what we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4846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Enterprise networks produce tens of millions of flow records per day.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Single-host intrusion-detection systems cannot keep up at that scale.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Distributed Big-Data platforms (Hadoop + Spark) provide horizontal scalability and fault tolerance.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 CIC-IDS2017 — a peer-reviewed, realistically labelled benchmark — lets us measure performance fairly.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486400" cy="4846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Objectives (SMART)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5120640" cy="1583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0F172A"/>
                </a:solidFill>
                <a:latin typeface="Calibri"/>
              </a:rPr>
              <a:t>•  Specific: binary classifier (BENIGN vs ATTACK) over CIC-IDS2017.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0F172A"/>
                </a:solidFill>
                <a:latin typeface="Calibri"/>
              </a:rPr>
              <a:t>•  Measurable: 5 metrics — accuracy, precision, recall, F1, AUC-ROC.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0F172A"/>
                </a:solidFill>
                <a:latin typeface="Calibri"/>
              </a:rPr>
              <a:t>•  Achievable: standalone Spark cluster (1 master + 1 worker, 1.5 GB).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0F172A"/>
                </a:solidFill>
                <a:latin typeface="Calibri"/>
              </a:rPr>
              <a:t>•  Relevant: real-world Big-Data + cybersecurity problem.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0F172A"/>
                </a:solidFill>
                <a:latin typeface="Calibri"/>
              </a:rPr>
              <a:t>•  Time-bound: </a:t>
            </a:r>
            <a:r>
              <a:rPr lang="en-US" sz="1400" dirty="0">
                <a:solidFill>
                  <a:srgbClr val="0F172A"/>
                </a:solidFill>
                <a:latin typeface="Calibri"/>
              </a:rPr>
              <a:t>being prepared as a </a:t>
            </a:r>
            <a:r>
              <a:rPr lang="en-US" sz="1400" dirty="0" err="1">
                <a:solidFill>
                  <a:srgbClr val="0F172A"/>
                </a:solidFill>
                <a:latin typeface="Calibri"/>
              </a:rPr>
              <a:t>documentated</a:t>
            </a:r>
            <a:r>
              <a:rPr lang="en-US" sz="1400" dirty="0">
                <a:solidFill>
                  <a:srgbClr val="0F172A"/>
                </a:solidFill>
                <a:latin typeface="Calibri"/>
              </a:rPr>
              <a:t> paper</a:t>
            </a:r>
            <a:endParaRPr sz="140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CSCI461 — Network Attack Detection on CIC-IDS2017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0" y="752469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dirty="0">
                <a:solidFill>
                  <a:srgbClr val="1E3A8A"/>
                </a:solidFill>
                <a:latin typeface="Calibri"/>
              </a:rPr>
              <a:t>Speaker: Member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3/10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Dataset: CIC-IDS2017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  <a:latin typeface="Calibri"/>
              </a:rPr>
              <a:t>Source · size · format · what we removed and why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4846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Dataset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Source: Canadian Institute for Cybersecurity (peer-reviewed, public).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14 CSV files (~600 MB total, ~3,000,000 raw flow records).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Five business days of mixed benign + attack traffic.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12 attack subtypes after we merged Web Brute Force / XSS / SQL Injection → WEB_ATTACK.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Top classes: DOS_HULK (349,240) · PORT_SCAN (161,323) · BENIGN (133,770) · DDOS_LOIT (95,733).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 Smallest: HEARTBLEED (12 flows) — illustrates long-tail nature.</a:t>
            </a:r>
          </a:p>
        </p:txBody>
      </p:sp>
      <p:pic>
        <p:nvPicPr>
          <p:cNvPr id="11" name="Picture 10" descr="01_attack_type_distribution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263640" y="1371600"/>
            <a:ext cx="548640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CSCI461 — Network Attack Detection on CIC-IDS2017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6398" y="6460850"/>
            <a:ext cx="3657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dirty="0">
                <a:solidFill>
                  <a:srgbClr val="1E3A8A"/>
                </a:solidFill>
                <a:latin typeface="Calibri"/>
              </a:rPr>
              <a:t>Speaker Member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4/10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Preprocessing &amp; 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  <a:latin typeface="Calibri"/>
              </a:rPr>
              <a:t>From 14 raw CSVs to one Spark MLlib feature vector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840480" cy="4846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23060"/>
            <a:ext cx="29260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1E3A8A"/>
                </a:solidFill>
                <a:latin typeface="Calibri"/>
              </a:rPr>
              <a:t>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33832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Calibri"/>
              </a:rPr>
              <a:t>•  Loaded 14 CSVs into a single Spark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DataFrame</a:t>
            </a:r>
            <a:r>
              <a:rPr sz="1300" dirty="0">
                <a:solidFill>
                  <a:srgbClr val="0F172A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Calibri"/>
              </a:rPr>
              <a:t>• 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Normalised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column names to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snake_case</a:t>
            </a:r>
            <a:r>
              <a:rPr sz="1300" dirty="0">
                <a:solidFill>
                  <a:srgbClr val="0F172A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Calibri"/>
              </a:rPr>
              <a:t>•  Dropped rows with missing labels or ±∞ values.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Calibri"/>
              </a:rPr>
              <a:t>•  Merged 3 web-attack subtypes → WEB_ATTACK.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Calibri"/>
              </a:rPr>
              <a:t>•  Output: 785,583 flows × 122 numeric columns.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dirty="0">
                <a:solidFill>
                  <a:srgbClr val="0F172A"/>
                </a:solidFill>
                <a:latin typeface="Calibri"/>
              </a:rPr>
              <a:t>•  Saved as Parquet (Snappy).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280160"/>
            <a:ext cx="3840480" cy="4846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0" y="1508760"/>
            <a:ext cx="502920" cy="502920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5231" y="16230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1E3A8A"/>
                </a:solidFill>
                <a:latin typeface="Calibri"/>
              </a:rPr>
              <a:t>Outlier &amp; null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240280"/>
            <a:ext cx="33832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Cast all numeric columns to double.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Clipped each column at the 1st / 99th percentile (approxQuantile).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Imputed remaining NaNs with 0.0.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Built binary target: BENIGN→0.0, ATTACK→1.0.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Preserved label_original for diagnostics.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280160"/>
            <a:ext cx="3474720" cy="4846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49640" y="1508760"/>
            <a:ext cx="502920" cy="502920"/>
          </a:xfrm>
          <a:prstGeom prst="ellipse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9640" y="1508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637109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1E3A8A"/>
                </a:solidFill>
                <a:latin typeface="Calibri"/>
              </a:rPr>
              <a:t>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240280"/>
            <a:ext cx="30175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7 engineered features added: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  total_packets, total_payload_bytes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  avg_payload_per_packet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  fwd_bwd_packet_ratio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  log_duration, log_bytes_rate,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  log_packets_rate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VectorAssembler → single ‘features’ column.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CSCI461 — Network Attack Detection on CIC-IDS2017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75512"/>
            <a:ext cx="3657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dirty="0">
                <a:solidFill>
                  <a:srgbClr val="1E3A8A"/>
                </a:solidFill>
                <a:latin typeface="Calibri"/>
              </a:rPr>
              <a:t>Speaker Member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Big-Data Technologies &amp;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  <a:latin typeface="Calibri"/>
              </a:rPr>
              <a:t>Why we picked each layer of the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669280" cy="2331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64592" cy="2331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Apache Hadoop (HDFS)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51206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Distributed file system; storage backbone.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Stores raw CSVs + every intermediate Parquet artefact.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Browsed at localhost:9870 during development.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486400" cy="2331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164592" cy="2331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4630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Apache Spark 3.x (standalone)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57400"/>
            <a:ext cx="493776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Unified engine for batch + ML.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1 spark-master, 1 spark-worker, 1.5 GB executor memory.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Web UI at localhost:8080.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5669280" cy="2423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164592" cy="2423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Spark MLlib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512064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LogisticRegression, MultilayerPerceptronClassifier, RandomForestClassifier.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VectorAssembler + StandardScaler used in the pipeline.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Deterministic seed = 42 across all models.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5486400" cy="2423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703320"/>
            <a:ext cx="164592" cy="2423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3886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Supporting: Docker · Parquet ·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480560"/>
            <a:ext cx="493776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Docker Compose orchestrates Hadoop + Spark + Jupyter.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Parquet (Snappy) for every intermediate dataset — columnar + schema-typed.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Python 3 + PySpark for jobs; pandas + matplotlib + Streamlit for the dashboard.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CSCI461 — Network Attack Detection on CIC-IDS2017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00" y="6864141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dirty="0">
                <a:solidFill>
                  <a:srgbClr val="1E3A8A"/>
                </a:solidFill>
                <a:latin typeface="Calibri"/>
              </a:rPr>
              <a:t>Speaker: Member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6/10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System Architecture &amp; Project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  <a:latin typeface="Calibri"/>
              </a:rPr>
              <a:t>Raw CSVs → HDFS → Spark → 3 Models → Comparison → Reports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" y="1280160"/>
            <a:ext cx="7772400" cy="5327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4173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Stages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1.  Upload 14 CSVs to HDFS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2.  Spark cleaning  (04_clean.py)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3.  Feature engineering  (05_…)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4.  Train Model A  (LR)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5.  Train Model B  (MLP)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6.  Train Model C  (RF)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7.  Compare 3 models  (09_…)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8.  Build HTML report &amp;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CSCI461 — Network Attack Detection on CIC-IDS2017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94024" y="7319977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dirty="0">
                <a:solidFill>
                  <a:srgbClr val="1E3A8A"/>
                </a:solidFill>
                <a:latin typeface="Calibri"/>
              </a:rPr>
              <a:t>Speaker: Member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7/10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Source Code &amp;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  <a:latin typeface="Calibri"/>
              </a:rPr>
              <a:t>What the actual Spark jobs look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10 Python scripts, organised by pipeline stage. All committed to GitHub.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6949440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 dirty="0">
                <a:solidFill>
                  <a:srgbClr val="475569"/>
                </a:solidFill>
                <a:latin typeface="Consolas"/>
              </a:rPr>
              <a:t># 06_model_baseline.py  —  Logistic Regression</a:t>
            </a:r>
          </a:p>
          <a:p>
            <a:r>
              <a:rPr sz="1300" dirty="0" err="1">
                <a:solidFill>
                  <a:srgbClr val="0F172A"/>
                </a:solidFill>
                <a:latin typeface="Consolas"/>
              </a:rPr>
              <a:t>train_df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test_df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df.randomSplit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([0.8, 0.2], seed=42)</a:t>
            </a:r>
          </a:p>
          <a:p>
            <a:r>
              <a:rPr sz="1300" dirty="0" err="1">
                <a:solidFill>
                  <a:srgbClr val="0F172A"/>
                </a:solidFill>
                <a:latin typeface="Consolas"/>
              </a:rPr>
              <a:t>lr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LogisticRegression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featuresCol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='features',</a:t>
            </a:r>
          </a:p>
          <a:p>
            <a:r>
              <a:rPr sz="1300" dirty="0">
                <a:solidFill>
                  <a:srgbClr val="0F172A"/>
                </a:solidFill>
                <a:latin typeface="Consolas"/>
              </a:rPr>
              <a:t>                      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labelCol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='label',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maxIter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=10)</a:t>
            </a:r>
          </a:p>
          <a:p>
            <a:r>
              <a:rPr sz="1300" dirty="0">
                <a:solidFill>
                  <a:srgbClr val="0F172A"/>
                </a:solidFill>
                <a:latin typeface="Consolas"/>
              </a:rPr>
              <a:t>model =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lr.fit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train_df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)</a:t>
            </a:r>
          </a:p>
          <a:p>
            <a:r>
              <a:rPr sz="1300" dirty="0">
                <a:solidFill>
                  <a:srgbClr val="0F172A"/>
                </a:solidFill>
                <a:latin typeface="Consolas"/>
              </a:rPr>
              <a:t>predictions =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model.transform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test_df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)</a:t>
            </a:r>
          </a:p>
          <a:p>
            <a:endParaRPr sz="1300" dirty="0">
              <a:solidFill>
                <a:srgbClr val="0F172A"/>
              </a:solidFill>
              <a:latin typeface="Consolas"/>
            </a:endParaRPr>
          </a:p>
          <a:p>
            <a:r>
              <a:rPr sz="1300" i="1" dirty="0">
                <a:solidFill>
                  <a:srgbClr val="475569"/>
                </a:solidFill>
                <a:latin typeface="Consolas"/>
              </a:rPr>
              <a:t># 08_model_random_forest.py  —  Random Forest</a:t>
            </a:r>
          </a:p>
          <a:p>
            <a:r>
              <a:rPr sz="1300" dirty="0">
                <a:solidFill>
                  <a:srgbClr val="0F172A"/>
                </a:solidFill>
                <a:latin typeface="Consolas"/>
              </a:rPr>
              <a:t>rf =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RandomForestClassifier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(</a:t>
            </a:r>
          </a:p>
          <a:p>
            <a:r>
              <a:rPr sz="1300" dirty="0">
                <a:solidFill>
                  <a:srgbClr val="0F172A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featuresCol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='features',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labelCol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='label',</a:t>
            </a:r>
          </a:p>
          <a:p>
            <a:r>
              <a:rPr sz="1300" dirty="0">
                <a:solidFill>
                  <a:srgbClr val="0F172A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numTrees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=80,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maxDepth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=12,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maxBins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=32,</a:t>
            </a:r>
          </a:p>
          <a:p>
            <a:r>
              <a:rPr sz="1300" dirty="0">
                <a:solidFill>
                  <a:srgbClr val="0F172A"/>
                </a:solidFill>
                <a:latin typeface="Consolas"/>
              </a:rPr>
              <a:t>    seed=42,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featureSubsetStrategy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='sqrt',</a:t>
            </a:r>
          </a:p>
          <a:p>
            <a:r>
              <a:rPr sz="1300" dirty="0">
                <a:solidFill>
                  <a:srgbClr val="0F172A"/>
                </a:solidFill>
                <a:latin typeface="Consolas"/>
              </a:rPr>
              <a:t>    impurity='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gini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')</a:t>
            </a:r>
          </a:p>
          <a:p>
            <a:r>
              <a:rPr sz="1300" dirty="0">
                <a:solidFill>
                  <a:srgbClr val="0F172A"/>
                </a:solidFill>
                <a:latin typeface="Consolas"/>
              </a:rPr>
              <a:t>predictions = 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rf.fit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train_df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).transform(</a:t>
            </a:r>
            <a:r>
              <a:rPr sz="1300" dirty="0" err="1">
                <a:solidFill>
                  <a:srgbClr val="0F172A"/>
                </a:solidFill>
                <a:latin typeface="Consolas"/>
              </a:rPr>
              <a:t>test_df</a:t>
            </a:r>
            <a:r>
              <a:rPr sz="1300" dirty="0">
                <a:solidFill>
                  <a:srgbClr val="0F172A"/>
                </a:solidFill>
                <a:latin typeface="Consolas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737360"/>
            <a:ext cx="420624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1874519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Repo file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86000"/>
            <a:ext cx="38404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04_clean.py — cleaning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05_feature_engineering.py — features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06_model_baseline.py — Model A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07_model_improved.py — Model B (MLP)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08_model_random_forest.py — Model C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09_compare_all_models.py — eval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13_build_dashboard.py — 8 PNGs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14_build_html_dashboard.py — HTML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15_build_architecture_diagram.py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16_build_paper_docx.py — 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CSCI461 — Network Attack Detection on CIC-IDS2017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751104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1E3A8A"/>
                </a:solidFill>
                <a:latin typeface="Calibri"/>
              </a:rPr>
              <a:t>Speaker: Member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8/10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Machine-Learning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  <a:latin typeface="Calibri"/>
              </a:rPr>
              <a:t>Three Spark MLlib classifiers, same 80/20 split, seed = 42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703320" cy="4846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703320" cy="50292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Model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28016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Logistic Reg.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3154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Spark MLlib LogisticRegression.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Default L2 regularisation.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maxIter = 10.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Trains in seconds.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Owner: Member 3.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Test accuracy: 95.81%.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Test AUC-ROC: 97.83%.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703320" cy="4846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70332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2801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Model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28016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Deep 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65960"/>
            <a:ext cx="3154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MultilayerPerceptronClassifier.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Layers = [122, 64, 32, 2].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StandardScaler on inputs.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maxIter = 80, blockSize = 256.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Owner: Member 4.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Test accuracy: 98.31%.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Test AUC-ROC: 99.40%.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657600" cy="4846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365760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128016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Model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128016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65960"/>
            <a:ext cx="3108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RandomForestClassifier.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numTrees = 80, maxDepth = 12.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featureSubsetStrategy = sqrt.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impurity = gini.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Owner: Member 4 (winner).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Test accuracy: 99.54%.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Test AUC-ROC: 99.99%.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CSCI461 — Network Attack Detection on CIC-IDS2017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53081" y="7251737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dirty="0">
                <a:solidFill>
                  <a:srgbClr val="1E3A8A"/>
                </a:solidFill>
                <a:latin typeface="Calibri"/>
              </a:rPr>
              <a:t>Speaker: Members 3 &amp;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9/10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Results &amp;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  <a:latin typeface="Calibri"/>
              </a:rPr>
              <a:t>157,348-flow held-out test set · Random Forest wins every metric</a:t>
            </a:r>
          </a:p>
        </p:txBody>
      </p:sp>
      <p:pic>
        <p:nvPicPr>
          <p:cNvPr id="8" name="Picture 7" descr="03_metric_comparison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" y="1280160"/>
            <a:ext cx="6766560" cy="369085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280160"/>
            <a:ext cx="429768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14173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Headline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828800"/>
            <a:ext cx="39319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Best model:   Random Forest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Best F1:      0.9954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Best AUC-ROC: 0.9999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Test set:     157,348 flows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RF errors:    720  (out of 157,348)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LR errors:    6,586 (baseline)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False-positive cut: 12.4×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False-negative cut: 7.1×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091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5074920"/>
            <a:ext cx="39319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12.4× fewer false alarms = less analyst fatigue.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Near-perfect AUC means high decision-threshold flexibility.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CSCI461 — Network Attack Detection on CIC-IDS2017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2057" y="764752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dirty="0">
                <a:solidFill>
                  <a:srgbClr val="1E3A8A"/>
                </a:solidFill>
                <a:latin typeface="Calibri"/>
              </a:rPr>
              <a:t>Speaker: Member 4 &amp; Member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64592" cy="5852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3200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10/10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Paper, Contribution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  <a:latin typeface="Calibri"/>
              </a:rPr>
              <a:t>What we deliver to the community — and what comes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70332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70332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3154680" cy="1699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0F172A"/>
                </a:solidFill>
                <a:latin typeface="Calibri"/>
              </a:rPr>
              <a:t>•  IEEE-format paper (6 pages, LaTeX).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0F172A"/>
                </a:solidFill>
                <a:latin typeface="Calibri"/>
              </a:rPr>
              <a:t>•  Architecture diagram.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0F172A"/>
                </a:solidFill>
                <a:latin typeface="Calibri"/>
              </a:rPr>
              <a:t>•  Per-stage Word docx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0F172A"/>
                </a:solidFill>
                <a:latin typeface="Calibri"/>
              </a:rPr>
              <a:t>•  HTML dashboard.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0F172A"/>
                </a:solidFill>
                <a:latin typeface="Calibri"/>
              </a:rPr>
              <a:t>•  11 references in IEEE style.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dirty="0">
                <a:solidFill>
                  <a:srgbClr val="0F172A"/>
                </a:solidFill>
                <a:latin typeface="Calibri"/>
              </a:rPr>
              <a:t>•  Public GitHub repository, MIT licensed.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70332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70332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280160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Contribution &amp;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74520"/>
            <a:ext cx="3154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Educational reference impl. on CIC-IDS2017.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Inspectable Parquet artefacts at every stage.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Open dashboard generator (offline, no server).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Ethics: false-positive rate must be audited per user group before any deployment.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6576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65760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28016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874520"/>
            <a:ext cx="31089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Temporal hold-out (train days 1–4, test day 5).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Cascade RF with multi-class triage downstream.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Port to Spark on Kubernetes for elastic scaling.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Compare against streaming pipelines (Kafka + Spark Streaming).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CSCI461 — Network Attack Detection on CIC-IDS2017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824" y="757928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dirty="0">
                <a:solidFill>
                  <a:srgbClr val="1E3A8A"/>
                </a:solidFill>
                <a:latin typeface="Calibri"/>
              </a:rPr>
              <a:t>Speaker: Member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1525</Words>
  <Application>Microsoft Macintosh PowerPoint</Application>
  <PresentationFormat>Widescreen</PresentationFormat>
  <Paragraphs>204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Yasmin Ahmed Radwan</cp:lastModifiedBy>
  <cp:revision>4</cp:revision>
  <dcterms:created xsi:type="dcterms:W3CDTF">2013-01-27T09:14:16Z</dcterms:created>
  <dcterms:modified xsi:type="dcterms:W3CDTF">2026-05-17T03:43:42Z</dcterms:modified>
  <cp:category/>
</cp:coreProperties>
</file>